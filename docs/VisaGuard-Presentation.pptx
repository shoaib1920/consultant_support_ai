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5731e78-da21-ba6f-63eb-34f5a479994f}">
          <p14:sldIdLst>
            <p14:sldId id="256"/>
          </p14:sldIdLst>
        </p14:section>
        <p14:section name="The problem" id="{6db07d29-975c-0267-0490-0c5b99259286}">
          <p14:sldIdLst>
            <p14:sldId id="257"/>
          </p14:sldIdLst>
        </p14:section>
        <p14:section name="How it works" id="{c9727aab-df82-7566-b553-843e47c105b4}">
          <p14:sldIdLst>
            <p14:sldId id="258"/>
            <p14:sldId id="259"/>
            <p14:sldId id="260"/>
            <p14:sldId id="261"/>
          </p14:sldIdLst>
        </p14:section>
        <p14:section name="The product" id="{f7badcd5-cd1c-3513-b78e-163b224cbda0}">
          <p14:sldIdLst>
            <p14:sldId id="262"/>
            <p14:sldId id="263"/>
            <p14:sldId id="264"/>
          </p14:sldIdLst>
        </p14:section>
        <p14:section name="Why it matters" id="{fde74ff3-7e3e-0ef9-0606-7242d073ed97}">
          <p14:sldIdLst>
            <p14:sldId id="265"/>
            <p14:sldId id="266"/>
            <p14:sldId id="267"/>
          </p14:sldIdLst>
        </p14:section>
        <p14:section name="Next steps" id="{70054c52-59af-6ff8-4ddb-6194744c9447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question: has your office ever paid a non-refundable fee and then found out the student was never eligible? VisaGuard exists to make that impossible.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recognise each of these from their own office. The point: these are process failures, not bad luck. Ask which one happened to them most recently.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case moves through 11 stages in order. Payment, submission and visa filing are locked. Nobody, not even the owner, can skip a gate; even a direct database write is refused.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light always comes with the reason and the fix, in plain language. A case can never turn GREEN by itself while a rule it depends on is unverified or older than 60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Pre-flight. The two-person rule stops both honest mistakes and misuse. The final re-check means a case that turned RED in the meantime cannot be paid.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groups cover the refusal reasons consultancies see most. The rule values are not hidden in the software; your managers verify them on the Rules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menu top to bottom. Each role sees only what it is allowed to: owners see the money metrics, counsellors cannot approve or pay, students never reach this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 1 is what a manager reads in thirty seconds. Tab 4 is the one that wins the room: show Ayesha Noor's balance dipping on day 19 of the 28-day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never see the traffic light or the score, only what they need to do. The signed acknowledgment protects the consultancy if a family later disputes the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protected is the total of non-refundable amounts staff tried to pay while a gate was closed. One stopped deposit a year pays for the system many times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 each row. Every row on the left is a cost they already pay today, usually without measuring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before they ask. Being upfront about limits makes the rest of the pitch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here. Sign in as Ayesha Malik (Owner) and follow the six steps on the right; it takes about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core promise, then open for questions. Common ones: does AI decide (no), can we still proceed on a risky case (yes, with a written override and the student's signature), is a visa guaranteed (no).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VisaGuard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VisaGuard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Stop paying for applications that were never going to pass</a:t>
            </a:r>
            <a:endParaRPr lang="en-US" sz="2200" dirty="0"/>
          </a:p>
        </p:txBody>
      </p:sp>
      <p:sp>
        <p:nvSpPr>
          <p:cNvPr id="4" name="title-mark"/>
          <p:cNvSpPr/>
          <p:nvPr/>
        </p:nvSpPr>
        <p:spPr>
          <a:xfrm>
            <a:off x="731520" y="9601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itle-mark-t"/>
          <p:cNvSpPr txBox="1"/>
          <p:nvPr/>
        </p:nvSpPr>
        <p:spPr>
          <a:xfrm>
            <a:off x="731520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VG</a:t>
            </a:r>
            <a:endParaRPr lang="en-US" sz="2600" dirty="0"/>
          </a:p>
        </p:txBody>
      </p:sp>
      <p:sp>
        <p:nvSpPr>
          <p:cNvPr id="6" name="title-foot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Case management and refusal-risk screening for study-visa consultancies  ·  UK · Germany · Italy · France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Most losses come from a check that was skipped</a:t>
            </a:r>
            <a:endParaRPr lang="en-US" sz="3400" dirty="0"/>
          </a:p>
        </p:txBody>
      </p:sp>
      <p:sp>
        <p:nvSpPr>
          <p:cNvPr id="3" name="card-1"/>
          <p:cNvSpPr/>
          <p:nvPr/>
        </p:nvSpPr>
        <p:spPr>
          <a:xfrm>
            <a:off x="548640" y="1417320"/>
            <a:ext cx="36576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head-2"/>
          <p:cNvSpPr txBox="1"/>
          <p:nvPr/>
        </p:nvSpPr>
        <p:spPr>
          <a:xfrm>
            <a:off x="77724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Fee paid too early</a:t>
            </a:r>
            <a:endParaRPr lang="en-US" sz="1800" dirty="0"/>
          </a:p>
        </p:txBody>
      </p:sp>
      <p:sp>
        <p:nvSpPr>
          <p:cNvPr id="5" name="card-body-3"/>
          <p:cNvSpPr txBox="1"/>
          <p:nvPr/>
        </p:nvSpPr>
        <p:spPr>
          <a:xfrm>
            <a:off x="777240" y="20574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non-refundable deposit is paid, then someone notices the CGPA is below the minimum.</a:t>
            </a:r>
            <a:endParaRPr lang="en-US" sz="1400" dirty="0"/>
          </a:p>
        </p:txBody>
      </p:sp>
      <p:sp>
        <p:nvSpPr>
          <p:cNvPr id="6" name="card-4"/>
          <p:cNvSpPr/>
          <p:nvPr/>
        </p:nvSpPr>
        <p:spPr>
          <a:xfrm>
            <a:off x="4434840" y="1417320"/>
            <a:ext cx="36576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-head-5"/>
          <p:cNvSpPr txBox="1"/>
          <p:nvPr/>
        </p:nvSpPr>
        <p:spPr>
          <a:xfrm>
            <a:off x="466344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Funds dip in the window</a:t>
            </a:r>
            <a:endParaRPr lang="en-US" sz="1800" dirty="0"/>
          </a:p>
        </p:txBody>
      </p:sp>
      <p:sp>
        <p:nvSpPr>
          <p:cNvPr id="8" name="card-body-6"/>
          <p:cNvSpPr txBox="1"/>
          <p:nvPr/>
        </p:nvSpPr>
        <p:spPr>
          <a:xfrm>
            <a:off x="4663440" y="20574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balance falls below the requirement for a few days inside the 28-day window. Visa refused.</a:t>
            </a:r>
            <a:endParaRPr lang="en-US" sz="1400" dirty="0"/>
          </a:p>
        </p:txBody>
      </p:sp>
      <p:sp>
        <p:nvSpPr>
          <p:cNvPr id="9" name="card-7"/>
          <p:cNvSpPr/>
          <p:nvPr/>
        </p:nvSpPr>
        <p:spPr>
          <a:xfrm>
            <a:off x="548640" y="3749040"/>
            <a:ext cx="36576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head-8"/>
          <p:cNvSpPr txBox="1"/>
          <p:nvPr/>
        </p:nvSpPr>
        <p:spPr>
          <a:xfrm>
            <a:off x="77724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Attestation too late</a:t>
            </a:r>
            <a:endParaRPr lang="en-US" sz="1800" dirty="0"/>
          </a:p>
        </p:txBody>
      </p:sp>
      <p:sp>
        <p:nvSpPr>
          <p:cNvPr id="11" name="card-body-9"/>
          <p:cNvSpPr txBox="1"/>
          <p:nvPr/>
        </p:nvSpPr>
        <p:spPr>
          <a:xfrm>
            <a:off x="777240" y="4389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HEC → MOFA → APS cannot finish before the deadline. The intake is lost.</a:t>
            </a:r>
            <a:endParaRPr lang="en-US" sz="1400" dirty="0"/>
          </a:p>
        </p:txBody>
      </p:sp>
      <p:sp>
        <p:nvSpPr>
          <p:cNvPr id="12" name="card-10"/>
          <p:cNvSpPr/>
          <p:nvPr/>
        </p:nvSpPr>
        <p:spPr>
          <a:xfrm>
            <a:off x="4434840" y="3749040"/>
            <a:ext cx="36576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-head-11"/>
          <p:cNvSpPr txBox="1"/>
          <p:nvPr/>
        </p:nvSpPr>
        <p:spPr>
          <a:xfrm>
            <a:off x="466344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Documents don't match</a:t>
            </a:r>
            <a:endParaRPr lang="en-US" sz="1800" dirty="0"/>
          </a:p>
        </p:txBody>
      </p:sp>
      <p:sp>
        <p:nvSpPr>
          <p:cNvPr id="14" name="card-body-12"/>
          <p:cNvSpPr txBox="1"/>
          <p:nvPr/>
        </p:nvSpPr>
        <p:spPr>
          <a:xfrm>
            <a:off x="4663440" y="438912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name on the matric certificate is spelt differently from the passport.</a:t>
            </a:r>
            <a:endParaRPr lang="en-US" sz="1400" dirty="0"/>
          </a:p>
        </p:txBody>
      </p:sp>
      <p:sp>
        <p:nvSpPr>
          <p:cNvPr id="15" name="stat-box"/>
          <p:cNvSpPr/>
          <p:nvPr/>
        </p:nvSpPr>
        <p:spPr>
          <a:xfrm>
            <a:off x="8503920" y="1417320"/>
            <a:ext cx="3108960" cy="443484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stat-n"/>
          <p:cNvSpPr txBox="1"/>
          <p:nvPr/>
        </p:nvSpPr>
        <p:spPr>
          <a:xfrm>
            <a:off x="8686800" y="2103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PKR 0.5–1.5M</a:t>
            </a:r>
            <a:endParaRPr lang="en-US" sz="3600" dirty="0"/>
          </a:p>
        </p:txBody>
      </p:sp>
      <p:sp>
        <p:nvSpPr>
          <p:cNvPr id="17" name="stat-l"/>
          <p:cNvSpPr txBox="1"/>
          <p:nvPr/>
        </p:nvSpPr>
        <p:spPr>
          <a:xfrm>
            <a:off x="8686800" y="31089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typically lost on one wrongly paid deposit, plus the student's year and your reputation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Like airport security: no boarding until every check is clear</a:t>
            </a:r>
            <a:endParaRPr lang="en-US" sz="3400" dirty="0"/>
          </a:p>
        </p:txBody>
      </p:sp>
      <p:sp>
        <p:nvSpPr>
          <p:cNvPr id="3" name="stage-13"/>
          <p:cNvSpPr/>
          <p:nvPr/>
        </p:nvSpPr>
        <p:spPr>
          <a:xfrm>
            <a:off x="548640" y="1828800"/>
            <a:ext cx="923544" cy="1051560"/>
          </a:xfrm>
          <a:prstGeom prst="roundRect">
            <a:avLst>
              <a:gd name="adj" fmla="val 7921"/>
            </a:avLst>
          </a:prstGeom>
          <a:solidFill>
            <a:srgbClr val="F1F5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4" name="stage-t-14"/>
          <p:cNvSpPr txBox="1"/>
          <p:nvPr/>
        </p:nvSpPr>
        <p:spPr>
          <a:xfrm>
            <a:off x="594360" y="1901952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Lead</a:t>
            </a:r>
            <a:endParaRPr lang="en-US" sz="1400" dirty="0"/>
          </a:p>
        </p:txBody>
      </p:sp>
      <p:sp>
        <p:nvSpPr>
          <p:cNvPr id="5" name="stage-15"/>
          <p:cNvSpPr/>
          <p:nvPr/>
        </p:nvSpPr>
        <p:spPr>
          <a:xfrm>
            <a:off x="1563624" y="1828800"/>
            <a:ext cx="923544" cy="1051560"/>
          </a:xfrm>
          <a:prstGeom prst="roundRect">
            <a:avLst>
              <a:gd name="adj" fmla="val 7921"/>
            </a:avLst>
          </a:prstGeom>
          <a:solidFill>
            <a:srgbClr val="F1F5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6" name="stage-t-16"/>
          <p:cNvSpPr txBox="1"/>
          <p:nvPr/>
        </p:nvSpPr>
        <p:spPr>
          <a:xfrm>
            <a:off x="1609344" y="1901952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Profile Complete</a:t>
            </a:r>
            <a:endParaRPr lang="en-US" sz="1400" dirty="0"/>
          </a:p>
        </p:txBody>
      </p:sp>
      <p:sp>
        <p:nvSpPr>
          <p:cNvPr id="7" name="stage-17"/>
          <p:cNvSpPr/>
          <p:nvPr/>
        </p:nvSpPr>
        <p:spPr>
          <a:xfrm>
            <a:off x="2578608" y="1828800"/>
            <a:ext cx="923544" cy="1051560"/>
          </a:xfrm>
          <a:prstGeom prst="roundRect">
            <a:avLst>
              <a:gd name="adj" fmla="val 7921"/>
            </a:avLst>
          </a:prstGeom>
          <a:solidFill>
            <a:srgbClr val="F1F5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tage-t-18"/>
          <p:cNvSpPr txBox="1"/>
          <p:nvPr/>
        </p:nvSpPr>
        <p:spPr>
          <a:xfrm>
            <a:off x="2624328" y="1901952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Docs Verified</a:t>
            </a:r>
            <a:endParaRPr lang="en-US" sz="1400" dirty="0"/>
          </a:p>
        </p:txBody>
      </p:sp>
      <p:sp>
        <p:nvSpPr>
          <p:cNvPr id="9" name="stage-19"/>
          <p:cNvSpPr/>
          <p:nvPr/>
        </p:nvSpPr>
        <p:spPr>
          <a:xfrm>
            <a:off x="3593592" y="1828800"/>
            <a:ext cx="923544" cy="1051560"/>
          </a:xfrm>
          <a:prstGeom prst="roundRect">
            <a:avLst>
              <a:gd name="adj" fmla="val 7921"/>
            </a:avLst>
          </a:prstGeom>
          <a:solidFill>
            <a:srgbClr val="F1F5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stage-t-20"/>
          <p:cNvSpPr txBox="1"/>
          <p:nvPr/>
        </p:nvSpPr>
        <p:spPr>
          <a:xfrm>
            <a:off x="3639312" y="1901952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Eligibility Passed</a:t>
            </a:r>
            <a:endParaRPr lang="en-US" sz="1400" dirty="0"/>
          </a:p>
        </p:txBody>
      </p:sp>
      <p:sp>
        <p:nvSpPr>
          <p:cNvPr id="11" name="stage-21"/>
          <p:cNvSpPr/>
          <p:nvPr/>
        </p:nvSpPr>
        <p:spPr>
          <a:xfrm>
            <a:off x="4608576" y="1828800"/>
            <a:ext cx="923544" cy="1051560"/>
          </a:xfrm>
          <a:prstGeom prst="roundRect">
            <a:avLst>
              <a:gd name="adj" fmla="val 7921"/>
            </a:avLst>
          </a:prstGeom>
          <a:solidFill>
            <a:srgbClr val="F1F5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stage-t-22"/>
          <p:cNvSpPr txBox="1"/>
          <p:nvPr/>
        </p:nvSpPr>
        <p:spPr>
          <a:xfrm>
            <a:off x="4654296" y="1901952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Manager Approved</a:t>
            </a:r>
            <a:endParaRPr lang="en-US" sz="1400" dirty="0"/>
          </a:p>
        </p:txBody>
      </p:sp>
      <p:sp>
        <p:nvSpPr>
          <p:cNvPr id="13" name="stage-23"/>
          <p:cNvSpPr/>
          <p:nvPr/>
        </p:nvSpPr>
        <p:spPr>
          <a:xfrm>
            <a:off x="5623560" y="1828800"/>
            <a:ext cx="923544" cy="1051560"/>
          </a:xfrm>
          <a:prstGeom prst="roundRect">
            <a:avLst>
              <a:gd name="adj" fmla="val 7921"/>
            </a:avLst>
          </a:prstGeom>
          <a:solidFill>
            <a:srgbClr val="FBEAE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stage-t-24"/>
          <p:cNvSpPr txBox="1"/>
          <p:nvPr/>
        </p:nvSpPr>
        <p:spPr>
          <a:xfrm>
            <a:off x="5669280" y="1901952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Payment Authorized</a:t>
            </a:r>
            <a:endParaRPr lang="en-US" sz="1400" dirty="0"/>
          </a:p>
        </p:txBody>
      </p:sp>
      <p:sp>
        <p:nvSpPr>
          <p:cNvPr id="15" name="lock-25"/>
          <p:cNvSpPr txBox="1"/>
          <p:nvPr/>
        </p:nvSpPr>
        <p:spPr>
          <a:xfrm>
            <a:off x="5623560" y="297180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LOCKED</a:t>
            </a:r>
            <a:endParaRPr lang="en-US" sz="1100" dirty="0"/>
          </a:p>
        </p:txBody>
      </p:sp>
      <p:sp>
        <p:nvSpPr>
          <p:cNvPr id="16" name="stage-26"/>
          <p:cNvSpPr/>
          <p:nvPr/>
        </p:nvSpPr>
        <p:spPr>
          <a:xfrm>
            <a:off x="6638544" y="1828800"/>
            <a:ext cx="923544" cy="1051560"/>
          </a:xfrm>
          <a:prstGeom prst="roundRect">
            <a:avLst>
              <a:gd name="adj" fmla="val 7921"/>
            </a:avLst>
          </a:prstGeom>
          <a:solidFill>
            <a:srgbClr val="FBEAE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stage-t-27"/>
          <p:cNvSpPr txBox="1"/>
          <p:nvPr/>
        </p:nvSpPr>
        <p:spPr>
          <a:xfrm>
            <a:off x="6684264" y="1901952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7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Submitted</a:t>
            </a:r>
            <a:endParaRPr lang="en-US" sz="1400" dirty="0"/>
          </a:p>
        </p:txBody>
      </p:sp>
      <p:sp>
        <p:nvSpPr>
          <p:cNvPr id="18" name="lock-28"/>
          <p:cNvSpPr txBox="1"/>
          <p:nvPr/>
        </p:nvSpPr>
        <p:spPr>
          <a:xfrm>
            <a:off x="6638544" y="297180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LOCKED</a:t>
            </a:r>
            <a:endParaRPr lang="en-US" sz="1100" dirty="0"/>
          </a:p>
        </p:txBody>
      </p:sp>
      <p:sp>
        <p:nvSpPr>
          <p:cNvPr id="19" name="stage-29"/>
          <p:cNvSpPr/>
          <p:nvPr/>
        </p:nvSpPr>
        <p:spPr>
          <a:xfrm>
            <a:off x="7653528" y="1828800"/>
            <a:ext cx="923544" cy="1051560"/>
          </a:xfrm>
          <a:prstGeom prst="roundRect">
            <a:avLst>
              <a:gd name="adj" fmla="val 7921"/>
            </a:avLst>
          </a:prstGeom>
          <a:solidFill>
            <a:srgbClr val="F1F5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0" name="stage-t-30"/>
          <p:cNvSpPr txBox="1"/>
          <p:nvPr/>
        </p:nvSpPr>
        <p:spPr>
          <a:xfrm>
            <a:off x="7699248" y="1901952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8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Offer / Admission</a:t>
            </a:r>
            <a:endParaRPr lang="en-US" sz="1400" dirty="0"/>
          </a:p>
        </p:txBody>
      </p:sp>
      <p:sp>
        <p:nvSpPr>
          <p:cNvPr id="21" name="stage-31"/>
          <p:cNvSpPr/>
          <p:nvPr/>
        </p:nvSpPr>
        <p:spPr>
          <a:xfrm>
            <a:off x="8668512" y="1828800"/>
            <a:ext cx="923544" cy="1051560"/>
          </a:xfrm>
          <a:prstGeom prst="roundRect">
            <a:avLst>
              <a:gd name="adj" fmla="val 7921"/>
            </a:avLst>
          </a:prstGeom>
          <a:solidFill>
            <a:srgbClr val="FBEAE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stage-t-32"/>
          <p:cNvSpPr txBox="1"/>
          <p:nvPr/>
        </p:nvSpPr>
        <p:spPr>
          <a:xfrm>
            <a:off x="8714232" y="1901952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9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Visa Filed</a:t>
            </a:r>
            <a:endParaRPr lang="en-US" sz="1400" dirty="0"/>
          </a:p>
        </p:txBody>
      </p:sp>
      <p:sp>
        <p:nvSpPr>
          <p:cNvPr id="23" name="lock-33"/>
          <p:cNvSpPr txBox="1"/>
          <p:nvPr/>
        </p:nvSpPr>
        <p:spPr>
          <a:xfrm>
            <a:off x="8668512" y="297180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LOCKED</a:t>
            </a:r>
            <a:endParaRPr lang="en-US" sz="1100" dirty="0"/>
          </a:p>
        </p:txBody>
      </p:sp>
      <p:sp>
        <p:nvSpPr>
          <p:cNvPr id="24" name="stage-34"/>
          <p:cNvSpPr/>
          <p:nvPr/>
        </p:nvSpPr>
        <p:spPr>
          <a:xfrm>
            <a:off x="9683496" y="1828800"/>
            <a:ext cx="923544" cy="1051560"/>
          </a:xfrm>
          <a:prstGeom prst="roundRect">
            <a:avLst>
              <a:gd name="adj" fmla="val 7921"/>
            </a:avLst>
          </a:prstGeom>
          <a:solidFill>
            <a:srgbClr val="F1F5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5" name="stage-t-35"/>
          <p:cNvSpPr txBox="1"/>
          <p:nvPr/>
        </p:nvSpPr>
        <p:spPr>
          <a:xfrm>
            <a:off x="9729216" y="1901952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10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Decision</a:t>
            </a:r>
            <a:endParaRPr lang="en-US" sz="1400" dirty="0"/>
          </a:p>
        </p:txBody>
      </p:sp>
      <p:sp>
        <p:nvSpPr>
          <p:cNvPr id="26" name="stage-36"/>
          <p:cNvSpPr/>
          <p:nvPr/>
        </p:nvSpPr>
        <p:spPr>
          <a:xfrm>
            <a:off x="10698480" y="1828800"/>
            <a:ext cx="923544" cy="1051560"/>
          </a:xfrm>
          <a:prstGeom prst="roundRect">
            <a:avLst>
              <a:gd name="adj" fmla="val 7921"/>
            </a:avLst>
          </a:prstGeom>
          <a:solidFill>
            <a:srgbClr val="F1F5F9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7" name="stage-t-37"/>
          <p:cNvSpPr txBox="1"/>
          <p:nvPr/>
        </p:nvSpPr>
        <p:spPr>
          <a:xfrm>
            <a:off x="10744200" y="1901952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Pre-departure</a:t>
            </a:r>
            <a:endParaRPr lang="en-US" sz="1400" dirty="0"/>
          </a:p>
        </p:txBody>
      </p:sp>
      <p:sp>
        <p:nvSpPr>
          <p:cNvPr id="28" name="flow-cap"/>
          <p:cNvSpPr txBox="1"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Stages always run in order. The three steps you cannot undo are locked behind Pre-flight.</a:t>
            </a:r>
            <a:endParaRPr lang="en-US" sz="1800" dirty="0"/>
          </a:p>
        </p:txBody>
      </p:sp>
      <p:sp>
        <p:nvSpPr>
          <p:cNvPr id="29" name="badge-38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badge-t-39"/>
          <p:cNvSpPr txBox="1"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1" name="pt-h-40"/>
          <p:cNvSpPr txBox="1"/>
          <p:nvPr/>
        </p:nvSpPr>
        <p:spPr>
          <a:xfrm>
            <a:off x="1234440" y="42245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Nothing irreversible until the gates pass</a:t>
            </a:r>
            <a:endParaRPr lang="en-US" sz="1600" dirty="0"/>
          </a:p>
        </p:txBody>
      </p:sp>
      <p:sp>
        <p:nvSpPr>
          <p:cNvPr id="32" name="pt-b-41"/>
          <p:cNvSpPr txBox="1"/>
          <p:nvPr/>
        </p:nvSpPr>
        <p:spPr>
          <a:xfrm>
            <a:off x="1234440" y="4937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fee, submission or visa filing while a check fails.</a:t>
            </a:r>
            <a:endParaRPr lang="en-US" sz="1400" dirty="0"/>
          </a:p>
        </p:txBody>
      </p:sp>
      <p:sp>
        <p:nvSpPr>
          <p:cNvPr id="33" name="badge-42"/>
          <p:cNvSpPr/>
          <p:nvPr/>
        </p:nvSpPr>
        <p:spPr>
          <a:xfrm>
            <a:off x="4297680" y="4297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badge-t-43"/>
          <p:cNvSpPr txBox="1"/>
          <p:nvPr/>
        </p:nvSpPr>
        <p:spPr>
          <a:xfrm>
            <a:off x="42976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5" name="pt-h-44"/>
          <p:cNvSpPr txBox="1"/>
          <p:nvPr/>
        </p:nvSpPr>
        <p:spPr>
          <a:xfrm>
            <a:off x="4983480" y="42245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back door</a:t>
            </a:r>
            <a:endParaRPr lang="en-US" sz="1600" dirty="0"/>
          </a:p>
        </p:txBody>
      </p:sp>
      <p:sp>
        <p:nvSpPr>
          <p:cNvPr id="36" name="pt-b-45"/>
          <p:cNvSpPr txBox="1"/>
          <p:nvPr/>
        </p:nvSpPr>
        <p:spPr>
          <a:xfrm>
            <a:off x="4983480" y="4937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check runs from every screen, integration or database call.</a:t>
            </a:r>
            <a:endParaRPr lang="en-US" sz="1400" dirty="0"/>
          </a:p>
        </p:txBody>
      </p:sp>
      <p:sp>
        <p:nvSpPr>
          <p:cNvPr id="37" name="badge-46"/>
          <p:cNvSpPr/>
          <p:nvPr/>
        </p:nvSpPr>
        <p:spPr>
          <a:xfrm>
            <a:off x="8046720" y="4297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badge-t-47"/>
          <p:cNvSpPr txBox="1"/>
          <p:nvPr/>
        </p:nvSpPr>
        <p:spPr>
          <a:xfrm>
            <a:off x="80467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9" name="pt-h-48"/>
          <p:cNvSpPr txBox="1"/>
          <p:nvPr/>
        </p:nvSpPr>
        <p:spPr>
          <a:xfrm>
            <a:off x="8732520" y="42245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Every action recorded</a:t>
            </a:r>
            <a:endParaRPr lang="en-US" sz="1600" dirty="0"/>
          </a:p>
        </p:txBody>
      </p:sp>
      <p:sp>
        <p:nvSpPr>
          <p:cNvPr id="40" name="pt-b-49"/>
          <p:cNvSpPr txBox="1"/>
          <p:nvPr/>
        </p:nvSpPr>
        <p:spPr>
          <a:xfrm>
            <a:off x="8732520" y="4937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audit log that cannot be edited or deleted.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Every case gets a traffic light, with the reason</a:t>
            </a:r>
            <a:endParaRPr lang="en-US" sz="3400" dirty="0"/>
          </a:p>
        </p:txBody>
      </p:sp>
      <p:sp>
        <p:nvSpPr>
          <p:cNvPr id="3" name="light-50"/>
          <p:cNvSpPr/>
          <p:nvPr/>
        </p:nvSpPr>
        <p:spPr>
          <a:xfrm>
            <a:off x="1645920" y="1463040"/>
            <a:ext cx="1325880" cy="1325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light-t-51"/>
          <p:cNvSpPr txBox="1"/>
          <p:nvPr/>
        </p:nvSpPr>
        <p:spPr>
          <a:xfrm>
            <a:off x="1645920" y="146304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GREEN</a:t>
            </a:r>
            <a:endParaRPr lang="en-US" sz="1800" dirty="0"/>
          </a:p>
        </p:txBody>
      </p:sp>
      <p:sp>
        <p:nvSpPr>
          <p:cNvPr id="5" name="light-h-52"/>
          <p:cNvSpPr txBox="1"/>
          <p:nvPr/>
        </p:nvSpPr>
        <p:spPr>
          <a:xfrm>
            <a:off x="548640" y="3063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All checks passed on verified, up-to-date rules</a:t>
            </a:r>
            <a:endParaRPr lang="en-US" sz="1800" dirty="0"/>
          </a:p>
        </p:txBody>
      </p:sp>
      <p:sp>
        <p:nvSpPr>
          <p:cNvPr id="6" name="light-b-53"/>
          <p:cNvSpPr txBox="1"/>
          <p:nvPr/>
        </p:nvSpPr>
        <p:spPr>
          <a:xfrm>
            <a:off x="548640" y="37947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case can go to Pre-flight. GREEN is not a visa guarantee.</a:t>
            </a:r>
            <a:endParaRPr lang="en-US" sz="1400" dirty="0"/>
          </a:p>
        </p:txBody>
      </p:sp>
      <p:sp>
        <p:nvSpPr>
          <p:cNvPr id="7" name="light-54"/>
          <p:cNvSpPr/>
          <p:nvPr/>
        </p:nvSpPr>
        <p:spPr>
          <a:xfrm>
            <a:off x="5440680" y="1463040"/>
            <a:ext cx="1325880" cy="1325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light-t-55"/>
          <p:cNvSpPr txBox="1"/>
          <p:nvPr/>
        </p:nvSpPr>
        <p:spPr>
          <a:xfrm>
            <a:off x="5440680" y="146304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AMBER</a:t>
            </a:r>
            <a:endParaRPr lang="en-US" sz="1800" dirty="0"/>
          </a:p>
        </p:txBody>
      </p:sp>
      <p:sp>
        <p:nvSpPr>
          <p:cNvPr id="9" name="light-h-56"/>
          <p:cNvSpPr txBox="1"/>
          <p:nvPr/>
        </p:nvSpPr>
        <p:spPr>
          <a:xfrm>
            <a:off x="4343400" y="3063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Something needs attention</a:t>
            </a:r>
            <a:endParaRPr lang="en-US" sz="1800" dirty="0"/>
          </a:p>
        </p:txBody>
      </p:sp>
      <p:sp>
        <p:nvSpPr>
          <p:cNvPr id="10" name="light-b-57"/>
          <p:cNvSpPr txBox="1"/>
          <p:nvPr/>
        </p:nvSpPr>
        <p:spPr>
          <a:xfrm>
            <a:off x="4343400" y="37947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warning, missing data, or a rule no manager has verified yet.</a:t>
            </a:r>
            <a:endParaRPr lang="en-US" sz="1400" dirty="0"/>
          </a:p>
        </p:txBody>
      </p:sp>
      <p:sp>
        <p:nvSpPr>
          <p:cNvPr id="11" name="light-58"/>
          <p:cNvSpPr/>
          <p:nvPr/>
        </p:nvSpPr>
        <p:spPr>
          <a:xfrm>
            <a:off x="9235440" y="1463040"/>
            <a:ext cx="1325880" cy="1325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light-t-59"/>
          <p:cNvSpPr txBox="1"/>
          <p:nvPr/>
        </p:nvSpPr>
        <p:spPr>
          <a:xfrm>
            <a:off x="9235440" y="146304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RED</a:t>
            </a:r>
            <a:endParaRPr lang="en-US" sz="1800" dirty="0"/>
          </a:p>
        </p:txBody>
      </p:sp>
      <p:sp>
        <p:nvSpPr>
          <p:cNvPr id="13" name="light-h-60"/>
          <p:cNvSpPr txBox="1"/>
          <p:nvPr/>
        </p:nvSpPr>
        <p:spPr>
          <a:xfrm>
            <a:off x="8138160" y="30632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blocking problem</a:t>
            </a:r>
            <a:endParaRPr lang="en-US" sz="1800" dirty="0"/>
          </a:p>
        </p:txBody>
      </p:sp>
      <p:sp>
        <p:nvSpPr>
          <p:cNvPr id="14" name="light-b-61"/>
          <p:cNvSpPr txBox="1"/>
          <p:nvPr/>
        </p:nvSpPr>
        <p:spPr>
          <a:xfrm>
            <a:off x="8138160" y="37947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Payment and submission are locked until it is fixed or a manager overrides with a written reason.</a:t>
            </a:r>
            <a:endParaRPr lang="en-US" sz="1400" dirty="0"/>
          </a:p>
        </p:txBody>
      </p:sp>
      <p:sp>
        <p:nvSpPr>
          <p:cNvPr id="15" name="light-ex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light-ex-t"/>
          <p:cNvSpPr txBox="1"/>
          <p:nvPr/>
        </p:nvSpPr>
        <p:spPr>
          <a:xfrm>
            <a:off x="77724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Example: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RED — CGPA 2.45 is below the programme minimum 3.00. Fix: choose a programme that accepts 2.45, or a pathway course.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Two people confirm every non-refundable payment</a:t>
            </a:r>
            <a:endParaRPr lang="en-US" sz="3400" dirty="0"/>
          </a:p>
        </p:txBody>
      </p:sp>
      <p:sp>
        <p:nvSpPr>
          <p:cNvPr id="3" name="step-62"/>
          <p:cNvSpPr/>
          <p:nvPr/>
        </p:nvSpPr>
        <p:spPr>
          <a:xfrm>
            <a:off x="548640" y="146304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6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-64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-h-65"/>
          <p:cNvSpPr txBox="1"/>
          <p:nvPr/>
        </p:nvSpPr>
        <p:spPr>
          <a:xfrm>
            <a:off x="77724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Officer requests</a:t>
            </a:r>
            <a:endParaRPr lang="en-US" sz="1700" dirty="0"/>
          </a:p>
        </p:txBody>
      </p:sp>
      <p:sp>
        <p:nvSpPr>
          <p:cNvPr id="7" name="step-b-66"/>
          <p:cNvSpPr txBox="1"/>
          <p:nvPr/>
        </p:nvSpPr>
        <p:spPr>
          <a:xfrm>
            <a:off x="77724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Sees the light, every warning and rule status. Enters amount and refundability.</a:t>
            </a:r>
            <a:endParaRPr lang="en-US" sz="1400" dirty="0"/>
          </a:p>
        </p:txBody>
      </p:sp>
      <p:sp>
        <p:nvSpPr>
          <p:cNvPr id="8" name="arrow-67"/>
          <p:cNvSpPr/>
          <p:nvPr/>
        </p:nvSpPr>
        <p:spPr>
          <a:xfrm>
            <a:off x="3145536" y="2487168"/>
            <a:ext cx="164592" cy="329184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-68"/>
          <p:cNvSpPr/>
          <p:nvPr/>
        </p:nvSpPr>
        <p:spPr>
          <a:xfrm>
            <a:off x="3383280" y="146304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69"/>
          <p:cNvSpPr/>
          <p:nvPr/>
        </p:nvSpPr>
        <p:spPr>
          <a:xfrm>
            <a:off x="361188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-t-70"/>
          <p:cNvSpPr txBox="1"/>
          <p:nvPr/>
        </p:nvSpPr>
        <p:spPr>
          <a:xfrm>
            <a:off x="36118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-h-71"/>
          <p:cNvSpPr txBox="1"/>
          <p:nvPr/>
        </p:nvSpPr>
        <p:spPr>
          <a:xfrm>
            <a:off x="361188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Manager confirms</a:t>
            </a:r>
            <a:endParaRPr lang="en-US" sz="1700" dirty="0"/>
          </a:p>
        </p:txBody>
      </p:sp>
      <p:sp>
        <p:nvSpPr>
          <p:cNvPr id="13" name="step-b-72"/>
          <p:cNvSpPr txBox="1"/>
          <p:nvPr/>
        </p:nvSpPr>
        <p:spPr>
          <a:xfrm>
            <a:off x="361188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different person. Sees the money-at-risk banner in PKR.</a:t>
            </a:r>
            <a:endParaRPr lang="en-US" sz="1400" dirty="0"/>
          </a:p>
        </p:txBody>
      </p:sp>
      <p:sp>
        <p:nvSpPr>
          <p:cNvPr id="14" name="arrow-73"/>
          <p:cNvSpPr/>
          <p:nvPr/>
        </p:nvSpPr>
        <p:spPr>
          <a:xfrm>
            <a:off x="5980176" y="2487168"/>
            <a:ext cx="164592" cy="329184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ep-74"/>
          <p:cNvSpPr/>
          <p:nvPr/>
        </p:nvSpPr>
        <p:spPr>
          <a:xfrm>
            <a:off x="6217920" y="146304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-75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-t-76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-h-77"/>
          <p:cNvSpPr txBox="1"/>
          <p:nvPr/>
        </p:nvSpPr>
        <p:spPr>
          <a:xfrm>
            <a:off x="64465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System re-checks</a:t>
            </a:r>
            <a:endParaRPr lang="en-US" sz="1700" dirty="0"/>
          </a:p>
        </p:txBody>
      </p:sp>
      <p:sp>
        <p:nvSpPr>
          <p:cNvPr id="19" name="step-b-78"/>
          <p:cNvSpPr txBox="1"/>
          <p:nvPr/>
        </p:nvSpPr>
        <p:spPr>
          <a:xfrm>
            <a:off x="644652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Re-runs every check from current data at that moment.</a:t>
            </a:r>
            <a:endParaRPr lang="en-US" sz="1400" dirty="0"/>
          </a:p>
        </p:txBody>
      </p:sp>
      <p:sp>
        <p:nvSpPr>
          <p:cNvPr id="20" name="arrow-79"/>
          <p:cNvSpPr/>
          <p:nvPr/>
        </p:nvSpPr>
        <p:spPr>
          <a:xfrm>
            <a:off x="8814816" y="2487168"/>
            <a:ext cx="164592" cy="329184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tep-80"/>
          <p:cNvSpPr/>
          <p:nvPr/>
        </p:nvSpPr>
        <p:spPr>
          <a:xfrm>
            <a:off x="9052560" y="1463040"/>
            <a:ext cx="25146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-81"/>
          <p:cNvSpPr/>
          <p:nvPr/>
        </p:nvSpPr>
        <p:spPr>
          <a:xfrm>
            <a:off x="928116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badge-t-82"/>
          <p:cNvSpPr txBox="1"/>
          <p:nvPr/>
        </p:nvSpPr>
        <p:spPr>
          <a:xfrm>
            <a:off x="92811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tep-h-83"/>
          <p:cNvSpPr txBox="1"/>
          <p:nvPr/>
        </p:nvSpPr>
        <p:spPr>
          <a:xfrm>
            <a:off x="928116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Executed and recorded</a:t>
            </a:r>
            <a:endParaRPr lang="en-US" sz="1700" dirty="0"/>
          </a:p>
        </p:txBody>
      </p:sp>
      <p:sp>
        <p:nvSpPr>
          <p:cNvPr id="25" name="step-b-84"/>
          <p:cNvSpPr txBox="1"/>
          <p:nvPr/>
        </p:nvSpPr>
        <p:spPr>
          <a:xfrm>
            <a:off x="9281160" y="27432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Payment logged with both names; stage moves on; audit entry written.</a:t>
            </a:r>
            <a:endParaRPr lang="en-US" sz="1400" dirty="0"/>
          </a:p>
        </p:txBody>
      </p:sp>
      <p:sp>
        <p:nvSpPr>
          <p:cNvPr id="26" name="risk-banner"/>
          <p:cNvSpPr/>
          <p:nvPr/>
        </p:nvSpPr>
        <p:spPr>
          <a:xfrm>
            <a:off x="548640" y="42062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BEAEA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7" name="risk-banner-t"/>
          <p:cNvSpPr txBox="1"/>
          <p:nvPr/>
        </p:nvSpPr>
        <p:spPr>
          <a:xfrm>
            <a:off x="822960" y="4206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Money at risk: PKR 1,135,500 / EUR 3,490  NON-REFUNDABLE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the manager sees before confirming a tuition deposit</a:t>
            </a:r>
            <a:endParaRPr lang="en-US" sz="2200" dirty="0"/>
          </a:p>
        </p:txBody>
      </p:sp>
      <p:sp>
        <p:nvSpPr>
          <p:cNvPr id="28" name="pf-cap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anything changed between the two confirmations, nothing is executed. A manager cannot confirm their own request.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VisaGuard checks before the gate opens</a:t>
            </a:r>
            <a:endParaRPr lang="en-US" sz="3400" dirty="0"/>
          </a:p>
        </p:txBody>
      </p:sp>
      <p:sp>
        <p:nvSpPr>
          <p:cNvPr id="3" name="card-85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head-86"/>
          <p:cNvSpPr txBox="1"/>
          <p:nvPr/>
        </p:nvSpPr>
        <p:spPr>
          <a:xfrm>
            <a:off x="77724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Academics &amp; English</a:t>
            </a:r>
            <a:endParaRPr lang="en-US" sz="1800" dirty="0"/>
          </a:p>
        </p:txBody>
      </p:sp>
      <p:sp>
        <p:nvSpPr>
          <p:cNvPr id="5" name="card-body-87"/>
          <p:cNvSpPr txBox="1"/>
          <p:nvPr/>
        </p:nvSpPr>
        <p:spPr>
          <a:xfrm>
            <a:off x="777240" y="20574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CGPA converted across grading scales, backlogs, gaps, IELTS / PTE / MOI against the programme.</a:t>
            </a:r>
            <a:endParaRPr lang="en-US" sz="1400" dirty="0"/>
          </a:p>
        </p:txBody>
      </p:sp>
      <p:sp>
        <p:nvSpPr>
          <p:cNvPr id="6" name="card-88"/>
          <p:cNvSpPr/>
          <p:nvPr/>
        </p:nvSpPr>
        <p:spPr>
          <a:xfrm>
            <a:off x="429768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-head-89"/>
          <p:cNvSpPr txBox="1"/>
          <p:nvPr/>
        </p:nvSpPr>
        <p:spPr>
          <a:xfrm>
            <a:off x="452628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28-day funds test</a:t>
            </a:r>
            <a:endParaRPr lang="en-US" sz="1800" dirty="0"/>
          </a:p>
        </p:txBody>
      </p:sp>
      <p:sp>
        <p:nvSpPr>
          <p:cNvPr id="8" name="card-body-90"/>
          <p:cNvSpPr txBox="1"/>
          <p:nvPr/>
        </p:nvSpPr>
        <p:spPr>
          <a:xfrm>
            <a:off x="4526280" y="20574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Daily balance against the required amount; the exact failing day and shortfall.</a:t>
            </a:r>
            <a:endParaRPr lang="en-US" sz="1400" dirty="0"/>
          </a:p>
        </p:txBody>
      </p:sp>
      <p:sp>
        <p:nvSpPr>
          <p:cNvPr id="9" name="card-91"/>
          <p:cNvSpPr/>
          <p:nvPr/>
        </p:nvSpPr>
        <p:spPr>
          <a:xfrm>
            <a:off x="804672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head-92"/>
          <p:cNvSpPr txBox="1"/>
          <p:nvPr/>
        </p:nvSpPr>
        <p:spPr>
          <a:xfrm>
            <a:off x="827532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Document consistency</a:t>
            </a:r>
            <a:endParaRPr lang="en-US" sz="1800" dirty="0"/>
          </a:p>
        </p:txBody>
      </p:sp>
      <p:sp>
        <p:nvSpPr>
          <p:cNvPr id="11" name="card-body-93"/>
          <p:cNvSpPr txBox="1"/>
          <p:nvPr/>
        </p:nvSpPr>
        <p:spPr>
          <a:xfrm>
            <a:off x="8275320" y="20574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 spellings, date of birth, passport number, grades, account holder, CAS details.</a:t>
            </a:r>
            <a:endParaRPr lang="en-US" sz="1400" dirty="0"/>
          </a:p>
        </p:txBody>
      </p:sp>
      <p:sp>
        <p:nvSpPr>
          <p:cNvPr id="12" name="card-94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-head-95"/>
          <p:cNvSpPr txBox="1"/>
          <p:nvPr/>
        </p:nvSpPr>
        <p:spPr>
          <a:xfrm>
            <a:off x="777240" y="3977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Attestation &amp; deadlines</a:t>
            </a:r>
            <a:endParaRPr lang="en-US" sz="1800" dirty="0"/>
          </a:p>
        </p:txBody>
      </p:sp>
      <p:sp>
        <p:nvSpPr>
          <p:cNvPr id="14" name="card-body-96"/>
          <p:cNvSpPr txBox="1"/>
          <p:nvPr/>
        </p:nvSpPr>
        <p:spPr>
          <a:xfrm>
            <a:off x="777240" y="4434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HEC, MOFA, embassy, APS timelines against university and visa deadlines.</a:t>
            </a:r>
            <a:endParaRPr lang="en-US" sz="1400" dirty="0"/>
          </a:p>
        </p:txBody>
      </p:sp>
      <p:sp>
        <p:nvSpPr>
          <p:cNvPr id="15" name="card-97"/>
          <p:cNvSpPr/>
          <p:nvPr/>
        </p:nvSpPr>
        <p:spPr>
          <a:xfrm>
            <a:off x="429768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rd-head-98"/>
          <p:cNvSpPr txBox="1"/>
          <p:nvPr/>
        </p:nvSpPr>
        <p:spPr>
          <a:xfrm>
            <a:off x="4526280" y="3977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Country gates</a:t>
            </a:r>
            <a:endParaRPr lang="en-US" sz="1800" dirty="0"/>
          </a:p>
        </p:txBody>
      </p:sp>
      <p:sp>
        <p:nvSpPr>
          <p:cNvPr id="17" name="card-body-99"/>
          <p:cNvSpPr txBox="1"/>
          <p:nvPr/>
        </p:nvSpPr>
        <p:spPr>
          <a:xfrm>
            <a:off x="4526280" y="4434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UK CAS and TB test, German APS and blocked account, Universitaly and DoV, Campus France.</a:t>
            </a:r>
            <a:endParaRPr lang="en-US" sz="1400" dirty="0"/>
          </a:p>
        </p:txBody>
      </p:sp>
      <p:sp>
        <p:nvSpPr>
          <p:cNvPr id="18" name="card-100"/>
          <p:cNvSpPr/>
          <p:nvPr/>
        </p:nvSpPr>
        <p:spPr>
          <a:xfrm>
            <a:off x="8046720" y="37947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-head-101"/>
          <p:cNvSpPr txBox="1"/>
          <p:nvPr/>
        </p:nvSpPr>
        <p:spPr>
          <a:xfrm>
            <a:off x="8275320" y="3977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Verified rules</a:t>
            </a:r>
            <a:endParaRPr lang="en-US" sz="1800" dirty="0"/>
          </a:p>
        </p:txBody>
      </p:sp>
      <p:sp>
        <p:nvSpPr>
          <p:cNvPr id="20" name="card-body-102"/>
          <p:cNvSpPr txBox="1"/>
          <p:nvPr/>
        </p:nvSpPr>
        <p:spPr>
          <a:xfrm>
            <a:off x="8275320" y="4434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amount and deadline has a source, a verifier and a date. Stale after 60 days.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staff workspace</a:t>
            </a:r>
            <a:endParaRPr lang="en-US" sz="3400" dirty="0"/>
          </a:p>
        </p:txBody>
      </p:sp>
      <p:sp>
        <p:nvSpPr>
          <p:cNvPr id="3" name="dot-103"/>
          <p:cNvSpPr/>
          <p:nvPr/>
        </p:nvSpPr>
        <p:spPr>
          <a:xfrm>
            <a:off x="548640" y="15270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g-h-104"/>
          <p:cNvSpPr txBox="1"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Dashboard</a:t>
            </a:r>
            <a:endParaRPr lang="en-US" sz="1800" dirty="0"/>
          </a:p>
        </p:txBody>
      </p:sp>
      <p:sp>
        <p:nvSpPr>
          <p:cNvPr id="5" name="pg-b-105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Pipeline, blocked cases, deadlines, money protected and exposed</a:t>
            </a:r>
            <a:endParaRPr lang="en-US" sz="1400" dirty="0"/>
          </a:p>
        </p:txBody>
      </p:sp>
      <p:sp>
        <p:nvSpPr>
          <p:cNvPr id="6" name="dot-106"/>
          <p:cNvSpPr/>
          <p:nvPr/>
        </p:nvSpPr>
        <p:spPr>
          <a:xfrm>
            <a:off x="548640" y="246888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g-h-107"/>
          <p:cNvSpPr txBox="1"/>
          <p:nvPr/>
        </p:nvSpPr>
        <p:spPr>
          <a:xfrm>
            <a:off x="914400" y="2359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Cases</a:t>
            </a:r>
            <a:endParaRPr lang="en-US" sz="1800" dirty="0"/>
          </a:p>
        </p:txBody>
      </p:sp>
      <p:sp>
        <p:nvSpPr>
          <p:cNvPr id="8" name="pg-b-108"/>
          <p:cNvSpPr txBox="1"/>
          <p:nvPr/>
        </p:nvSpPr>
        <p:spPr>
          <a:xfrm>
            <a:off x="91440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case with its light, stage and flags</a:t>
            </a:r>
            <a:endParaRPr lang="en-US" sz="1400" dirty="0"/>
          </a:p>
        </p:txBody>
      </p:sp>
      <p:sp>
        <p:nvSpPr>
          <p:cNvPr id="9" name="dot-109"/>
          <p:cNvSpPr/>
          <p:nvPr/>
        </p:nvSpPr>
        <p:spPr>
          <a:xfrm>
            <a:off x="548640" y="341071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g-h-110"/>
          <p:cNvSpPr txBox="1"/>
          <p:nvPr/>
        </p:nvSpPr>
        <p:spPr>
          <a:xfrm>
            <a:off x="914400" y="3300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Students</a:t>
            </a:r>
            <a:endParaRPr lang="en-US" sz="1800" dirty="0"/>
          </a:p>
        </p:txBody>
      </p:sp>
      <p:sp>
        <p:nvSpPr>
          <p:cNvPr id="11" name="pg-b-111"/>
          <p:cNvSpPr txBox="1"/>
          <p:nvPr/>
        </p:nvSpPr>
        <p:spPr>
          <a:xfrm>
            <a:off x="914400" y="3685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Profiles, completeness meter, secure intake link</a:t>
            </a:r>
            <a:endParaRPr lang="en-US" sz="1400" dirty="0"/>
          </a:p>
        </p:txBody>
      </p:sp>
      <p:sp>
        <p:nvSpPr>
          <p:cNvPr id="12" name="dot-112"/>
          <p:cNvSpPr/>
          <p:nvPr/>
        </p:nvSpPr>
        <p:spPr>
          <a:xfrm>
            <a:off x="548640" y="4352544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g-h-113"/>
          <p:cNvSpPr txBox="1"/>
          <p:nvPr/>
        </p:nvSpPr>
        <p:spPr>
          <a:xfrm>
            <a:off x="914400" y="42428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Matching</a:t>
            </a:r>
            <a:endParaRPr lang="en-US" sz="1800" dirty="0"/>
          </a:p>
        </p:txBody>
      </p:sp>
      <p:sp>
        <p:nvSpPr>
          <p:cNvPr id="14" name="pg-b-114"/>
          <p:cNvSpPr txBox="1"/>
          <p:nvPr/>
        </p:nvSpPr>
        <p:spPr>
          <a:xfrm>
            <a:off x="914400" y="46268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Ranked programmes with honest acceptance and visa-risk bands</a:t>
            </a:r>
            <a:endParaRPr lang="en-US" sz="1400" dirty="0"/>
          </a:p>
        </p:txBody>
      </p:sp>
      <p:sp>
        <p:nvSpPr>
          <p:cNvPr id="15" name="dot-115"/>
          <p:cNvSpPr/>
          <p:nvPr/>
        </p:nvSpPr>
        <p:spPr>
          <a:xfrm>
            <a:off x="548640" y="529437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g-h-116"/>
          <p:cNvSpPr txBox="1"/>
          <p:nvPr/>
        </p:nvSpPr>
        <p:spPr>
          <a:xfrm>
            <a:off x="914400" y="5184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Approvals</a:t>
            </a:r>
            <a:endParaRPr lang="en-US" sz="1800" dirty="0"/>
          </a:p>
        </p:txBody>
      </p:sp>
      <p:sp>
        <p:nvSpPr>
          <p:cNvPr id="17" name="pg-b-117"/>
          <p:cNvSpPr txBox="1"/>
          <p:nvPr/>
        </p:nvSpPr>
        <p:spPr>
          <a:xfrm>
            <a:off x="914400" y="55686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Manager queue for payments and acknowledgments</a:t>
            </a:r>
            <a:endParaRPr lang="en-US" sz="1400" dirty="0"/>
          </a:p>
        </p:txBody>
      </p:sp>
      <p:sp>
        <p:nvSpPr>
          <p:cNvPr id="18" name="dot-118"/>
          <p:cNvSpPr/>
          <p:nvPr/>
        </p:nvSpPr>
        <p:spPr>
          <a:xfrm>
            <a:off x="6217920" y="15270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pg-h-119"/>
          <p:cNvSpPr txBox="1"/>
          <p:nvPr/>
        </p:nvSpPr>
        <p:spPr>
          <a:xfrm>
            <a:off x="658368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Tasks &amp; deadlines</a:t>
            </a:r>
            <a:endParaRPr lang="en-US" sz="1800" dirty="0"/>
          </a:p>
        </p:txBody>
      </p:sp>
      <p:sp>
        <p:nvSpPr>
          <p:cNvPr id="20" name="pg-b-120"/>
          <p:cNvSpPr txBox="1"/>
          <p:nvPr/>
        </p:nvSpPr>
        <p:spPr>
          <a:xfrm>
            <a:off x="6583680" y="18013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Auto-generated per country and stage; overdue in red</a:t>
            </a:r>
            <a:endParaRPr lang="en-US" sz="1400" dirty="0"/>
          </a:p>
        </p:txBody>
      </p:sp>
      <p:sp>
        <p:nvSpPr>
          <p:cNvPr id="21" name="dot-121"/>
          <p:cNvSpPr/>
          <p:nvPr/>
        </p:nvSpPr>
        <p:spPr>
          <a:xfrm>
            <a:off x="6217920" y="246888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pg-h-122"/>
          <p:cNvSpPr txBox="1"/>
          <p:nvPr/>
        </p:nvSpPr>
        <p:spPr>
          <a:xfrm>
            <a:off x="6583680" y="2359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Payments ledger</a:t>
            </a:r>
            <a:endParaRPr lang="en-US" sz="1800" dirty="0"/>
          </a:p>
        </p:txBody>
      </p:sp>
      <p:sp>
        <p:nvSpPr>
          <p:cNvPr id="23" name="pg-b-123"/>
          <p:cNvSpPr txBox="1"/>
          <p:nvPr/>
        </p:nvSpPr>
        <p:spPr>
          <a:xfrm>
            <a:off x="658368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payment, refundable or not, and who authorised it</a:t>
            </a:r>
            <a:endParaRPr lang="en-US" sz="1400" dirty="0"/>
          </a:p>
        </p:txBody>
      </p:sp>
      <p:sp>
        <p:nvSpPr>
          <p:cNvPr id="24" name="dot-124"/>
          <p:cNvSpPr/>
          <p:nvPr/>
        </p:nvSpPr>
        <p:spPr>
          <a:xfrm>
            <a:off x="6217920" y="341071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pg-h-125"/>
          <p:cNvSpPr txBox="1"/>
          <p:nvPr/>
        </p:nvSpPr>
        <p:spPr>
          <a:xfrm>
            <a:off x="6583680" y="3300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Rules engine</a:t>
            </a:r>
            <a:endParaRPr lang="en-US" sz="1800" dirty="0"/>
          </a:p>
        </p:txBody>
      </p:sp>
      <p:sp>
        <p:nvSpPr>
          <p:cNvPr id="26" name="pg-b-126"/>
          <p:cNvSpPr txBox="1"/>
          <p:nvPr/>
        </p:nvSpPr>
        <p:spPr>
          <a:xfrm>
            <a:off x="6583680" y="3685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amounts and deadlines, with source and verifier</a:t>
            </a:r>
            <a:endParaRPr lang="en-US" sz="1400" dirty="0"/>
          </a:p>
        </p:txBody>
      </p:sp>
      <p:sp>
        <p:nvSpPr>
          <p:cNvPr id="27" name="dot-127"/>
          <p:cNvSpPr/>
          <p:nvPr/>
        </p:nvSpPr>
        <p:spPr>
          <a:xfrm>
            <a:off x="6217920" y="4352544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pg-h-128"/>
          <p:cNvSpPr txBox="1"/>
          <p:nvPr/>
        </p:nvSpPr>
        <p:spPr>
          <a:xfrm>
            <a:off x="6583680" y="42428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Universities</a:t>
            </a:r>
            <a:endParaRPr lang="en-US" sz="1800" dirty="0"/>
          </a:p>
        </p:txBody>
      </p:sp>
      <p:sp>
        <p:nvSpPr>
          <p:cNvPr id="29" name="pg-b-129"/>
          <p:cNvSpPr txBox="1"/>
          <p:nvPr/>
        </p:nvSpPr>
        <p:spPr>
          <a:xfrm>
            <a:off x="6583680" y="46268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programme database: grades, fees, intakes</a:t>
            </a:r>
            <a:endParaRPr lang="en-US" sz="1400" dirty="0"/>
          </a:p>
        </p:txBody>
      </p:sp>
      <p:sp>
        <p:nvSpPr>
          <p:cNvPr id="30" name="dot-130"/>
          <p:cNvSpPr/>
          <p:nvPr/>
        </p:nvSpPr>
        <p:spPr>
          <a:xfrm>
            <a:off x="6217920" y="529437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pg-h-131"/>
          <p:cNvSpPr txBox="1"/>
          <p:nvPr/>
        </p:nvSpPr>
        <p:spPr>
          <a:xfrm>
            <a:off x="6583680" y="5184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Audit log</a:t>
            </a:r>
            <a:endParaRPr lang="en-US" sz="1800" dirty="0"/>
          </a:p>
        </p:txBody>
      </p:sp>
      <p:sp>
        <p:nvSpPr>
          <p:cNvPr id="32" name="pg-b-132"/>
          <p:cNvSpPr txBox="1"/>
          <p:nvPr/>
        </p:nvSpPr>
        <p:spPr>
          <a:xfrm>
            <a:off x="6583680" y="55686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Tamper-evident record of every action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Inside a case: eight tabs, one story</a:t>
            </a:r>
            <a:endParaRPr lang="en-US" sz="3400" dirty="0"/>
          </a:p>
        </p:txBody>
      </p:sp>
      <p:sp>
        <p:nvSpPr>
          <p:cNvPr id="3" name="tab-133"/>
          <p:cNvSpPr/>
          <p:nvPr/>
        </p:nvSpPr>
        <p:spPr>
          <a:xfrm>
            <a:off x="548640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34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badge-t-135"/>
          <p:cNvSpPr txBox="1"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ab-h-136"/>
          <p:cNvSpPr txBox="1"/>
          <p:nvPr/>
        </p:nvSpPr>
        <p:spPr>
          <a:xfrm>
            <a:off x="7772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Risk report</a:t>
            </a:r>
            <a:endParaRPr lang="en-US" sz="1700" dirty="0"/>
          </a:p>
        </p:txBody>
      </p:sp>
      <p:sp>
        <p:nvSpPr>
          <p:cNvPr id="7" name="tab-b-137"/>
          <p:cNvSpPr txBox="1"/>
          <p:nvPr/>
        </p:nvSpPr>
        <p:spPr>
          <a:xfrm>
            <a:off x="777240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Light, top risks, what to fix, what to ask; one-page PDF</a:t>
            </a:r>
            <a:endParaRPr lang="en-US" sz="1400" dirty="0"/>
          </a:p>
        </p:txBody>
      </p:sp>
      <p:sp>
        <p:nvSpPr>
          <p:cNvPr id="8" name="tab-138"/>
          <p:cNvSpPr/>
          <p:nvPr/>
        </p:nvSpPr>
        <p:spPr>
          <a:xfrm>
            <a:off x="3355848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139"/>
          <p:cNvSpPr/>
          <p:nvPr/>
        </p:nvSpPr>
        <p:spPr>
          <a:xfrm>
            <a:off x="3584448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badge-t-140"/>
          <p:cNvSpPr txBox="1"/>
          <p:nvPr/>
        </p:nvSpPr>
        <p:spPr>
          <a:xfrm>
            <a:off x="358444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ab-h-141"/>
          <p:cNvSpPr txBox="1"/>
          <p:nvPr/>
        </p:nvSpPr>
        <p:spPr>
          <a:xfrm>
            <a:off x="3584448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Documents</a:t>
            </a:r>
            <a:endParaRPr lang="en-US" sz="1700" dirty="0"/>
          </a:p>
        </p:txBody>
      </p:sp>
      <p:sp>
        <p:nvSpPr>
          <p:cNvPr id="12" name="tab-b-142"/>
          <p:cNvSpPr txBox="1"/>
          <p:nvPr/>
        </p:nvSpPr>
        <p:spPr>
          <a:xfrm>
            <a:off x="3584448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AI-read fields, mismatch flags, attestation tracker</a:t>
            </a:r>
            <a:endParaRPr lang="en-US" sz="1400" dirty="0"/>
          </a:p>
        </p:txBody>
      </p:sp>
      <p:sp>
        <p:nvSpPr>
          <p:cNvPr id="13" name="tab-143"/>
          <p:cNvSpPr/>
          <p:nvPr/>
        </p:nvSpPr>
        <p:spPr>
          <a:xfrm>
            <a:off x="6163056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144"/>
          <p:cNvSpPr/>
          <p:nvPr/>
        </p:nvSpPr>
        <p:spPr>
          <a:xfrm>
            <a:off x="6391656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badge-t-145"/>
          <p:cNvSpPr txBox="1"/>
          <p:nvPr/>
        </p:nvSpPr>
        <p:spPr>
          <a:xfrm>
            <a:off x="639165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ab-h-146"/>
          <p:cNvSpPr txBox="1"/>
          <p:nvPr/>
        </p:nvSpPr>
        <p:spPr>
          <a:xfrm>
            <a:off x="6391656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Eligibility</a:t>
            </a:r>
            <a:endParaRPr lang="en-US" sz="1700" dirty="0"/>
          </a:p>
        </p:txBody>
      </p:sp>
      <p:sp>
        <p:nvSpPr>
          <p:cNvPr id="17" name="tab-b-147"/>
          <p:cNvSpPr txBox="1"/>
          <p:nvPr/>
        </p:nvSpPr>
        <p:spPr>
          <a:xfrm>
            <a:off x="6391656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per category and every finding with its source</a:t>
            </a:r>
            <a:endParaRPr lang="en-US" sz="1400" dirty="0"/>
          </a:p>
        </p:txBody>
      </p:sp>
      <p:sp>
        <p:nvSpPr>
          <p:cNvPr id="18" name="tab-148"/>
          <p:cNvSpPr/>
          <p:nvPr/>
        </p:nvSpPr>
        <p:spPr>
          <a:xfrm>
            <a:off x="8970264" y="141732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149"/>
          <p:cNvSpPr/>
          <p:nvPr/>
        </p:nvSpPr>
        <p:spPr>
          <a:xfrm>
            <a:off x="9198864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badge-t-150"/>
          <p:cNvSpPr txBox="1"/>
          <p:nvPr/>
        </p:nvSpPr>
        <p:spPr>
          <a:xfrm>
            <a:off x="919886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ab-h-151"/>
          <p:cNvSpPr txBox="1"/>
          <p:nvPr/>
        </p:nvSpPr>
        <p:spPr>
          <a:xfrm>
            <a:off x="9198864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Financial</a:t>
            </a:r>
            <a:endParaRPr lang="en-US" sz="1700" dirty="0"/>
          </a:p>
        </p:txBody>
      </p:sp>
      <p:sp>
        <p:nvSpPr>
          <p:cNvPr id="22" name="tab-b-152"/>
          <p:cNvSpPr txBox="1"/>
          <p:nvPr/>
        </p:nvSpPr>
        <p:spPr>
          <a:xfrm>
            <a:off x="9198864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Required amount, daily balance chart, the failing day</a:t>
            </a:r>
            <a:endParaRPr lang="en-US" sz="1400" dirty="0"/>
          </a:p>
        </p:txBody>
      </p:sp>
      <p:sp>
        <p:nvSpPr>
          <p:cNvPr id="23" name="tab-153"/>
          <p:cNvSpPr/>
          <p:nvPr/>
        </p:nvSpPr>
        <p:spPr>
          <a:xfrm>
            <a:off x="548640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-154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badge-t-155"/>
          <p:cNvSpPr txBox="1"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ab-h-156"/>
          <p:cNvSpPr txBox="1"/>
          <p:nvPr/>
        </p:nvSpPr>
        <p:spPr>
          <a:xfrm>
            <a:off x="777240" y="4663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Gates &amp; pre-flight</a:t>
            </a:r>
            <a:endParaRPr lang="en-US" sz="1700" dirty="0"/>
          </a:p>
        </p:txBody>
      </p:sp>
      <p:sp>
        <p:nvSpPr>
          <p:cNvPr id="27" name="tab-b-157"/>
          <p:cNvSpPr txBox="1"/>
          <p:nvPr/>
        </p:nvSpPr>
        <p:spPr>
          <a:xfrm>
            <a:off x="777240" y="5074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Next stage, blockers, two-person payment, override</a:t>
            </a:r>
            <a:endParaRPr lang="en-US" sz="1400" dirty="0"/>
          </a:p>
        </p:txBody>
      </p:sp>
      <p:sp>
        <p:nvSpPr>
          <p:cNvPr id="28" name="tab-158"/>
          <p:cNvSpPr/>
          <p:nvPr/>
        </p:nvSpPr>
        <p:spPr>
          <a:xfrm>
            <a:off x="3355848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-159"/>
          <p:cNvSpPr/>
          <p:nvPr/>
        </p:nvSpPr>
        <p:spPr>
          <a:xfrm>
            <a:off x="3584448" y="40233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badge-t-160"/>
          <p:cNvSpPr txBox="1"/>
          <p:nvPr/>
        </p:nvSpPr>
        <p:spPr>
          <a:xfrm>
            <a:off x="358444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ab-h-161"/>
          <p:cNvSpPr txBox="1"/>
          <p:nvPr/>
        </p:nvSpPr>
        <p:spPr>
          <a:xfrm>
            <a:off x="3584448" y="4663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Payments</a:t>
            </a:r>
            <a:endParaRPr lang="en-US" sz="1700" dirty="0"/>
          </a:p>
        </p:txBody>
      </p:sp>
      <p:sp>
        <p:nvSpPr>
          <p:cNvPr id="32" name="tab-b-162"/>
          <p:cNvSpPr txBox="1"/>
          <p:nvPr/>
        </p:nvSpPr>
        <p:spPr>
          <a:xfrm>
            <a:off x="3584448" y="5074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This case's ledger, receipts, money exposed</a:t>
            </a:r>
            <a:endParaRPr lang="en-US" sz="1400" dirty="0"/>
          </a:p>
        </p:txBody>
      </p:sp>
      <p:sp>
        <p:nvSpPr>
          <p:cNvPr id="33" name="tab-163"/>
          <p:cNvSpPr/>
          <p:nvPr/>
        </p:nvSpPr>
        <p:spPr>
          <a:xfrm>
            <a:off x="6163056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dge-164"/>
          <p:cNvSpPr/>
          <p:nvPr/>
        </p:nvSpPr>
        <p:spPr>
          <a:xfrm>
            <a:off x="6391656" y="40233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badge-t-165"/>
          <p:cNvSpPr txBox="1"/>
          <p:nvPr/>
        </p:nvSpPr>
        <p:spPr>
          <a:xfrm>
            <a:off x="6391656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ab-h-166"/>
          <p:cNvSpPr txBox="1"/>
          <p:nvPr/>
        </p:nvSpPr>
        <p:spPr>
          <a:xfrm>
            <a:off x="6391656" y="4663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Tasks &amp; messages</a:t>
            </a:r>
            <a:endParaRPr lang="en-US" sz="1700" dirty="0"/>
          </a:p>
        </p:txBody>
      </p:sp>
      <p:sp>
        <p:nvSpPr>
          <p:cNvPr id="37" name="tab-b-167"/>
          <p:cNvSpPr txBox="1"/>
          <p:nvPr/>
        </p:nvSpPr>
        <p:spPr>
          <a:xfrm>
            <a:off x="6391656" y="5074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Countdowns and copy-ready WhatsApp and email texts</a:t>
            </a:r>
            <a:endParaRPr lang="en-US" sz="1400" dirty="0"/>
          </a:p>
        </p:txBody>
      </p:sp>
      <p:sp>
        <p:nvSpPr>
          <p:cNvPr id="38" name="tab-168"/>
          <p:cNvSpPr/>
          <p:nvPr/>
        </p:nvSpPr>
        <p:spPr>
          <a:xfrm>
            <a:off x="8970264" y="3794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badge-169"/>
          <p:cNvSpPr/>
          <p:nvPr/>
        </p:nvSpPr>
        <p:spPr>
          <a:xfrm>
            <a:off x="9198864" y="40233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badge-t-170"/>
          <p:cNvSpPr txBox="1"/>
          <p:nvPr/>
        </p:nvSpPr>
        <p:spPr>
          <a:xfrm>
            <a:off x="9198864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1" name="tab-h-171"/>
          <p:cNvSpPr txBox="1"/>
          <p:nvPr/>
        </p:nvSpPr>
        <p:spPr>
          <a:xfrm>
            <a:off x="9198864" y="4663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Audit</a:t>
            </a:r>
            <a:endParaRPr lang="en-US" sz="1700" dirty="0"/>
          </a:p>
        </p:txBody>
      </p:sp>
      <p:sp>
        <p:nvSpPr>
          <p:cNvPr id="42" name="tab-b-172"/>
          <p:cNvSpPr txBox="1"/>
          <p:nvPr/>
        </p:nvSpPr>
        <p:spPr>
          <a:xfrm>
            <a:off x="9198864" y="5074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change on this case, with who and when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student side: clear, simple, no internal scores</a:t>
            </a:r>
            <a:endParaRPr lang="en-US" sz="3400" dirty="0"/>
          </a:p>
        </p:txBody>
      </p:sp>
      <p:sp>
        <p:nvSpPr>
          <p:cNvPr id="3" name="card-173"/>
          <p:cNvSpPr/>
          <p:nvPr/>
        </p:nvSpPr>
        <p:spPr>
          <a:xfrm>
            <a:off x="54864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-head-174"/>
          <p:cNvSpPr txBox="1"/>
          <p:nvPr/>
        </p:nvSpPr>
        <p:spPr>
          <a:xfrm>
            <a:off x="777240" y="16002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Student portal</a:t>
            </a:r>
            <a:endParaRPr lang="en-US" sz="1800" dirty="0"/>
          </a:p>
        </p:txBody>
      </p:sp>
      <p:sp>
        <p:nvSpPr>
          <p:cNvPr id="5" name="card-body-175"/>
          <p:cNvSpPr txBox="1"/>
          <p:nvPr/>
        </p:nvSpPr>
        <p:spPr>
          <a:xfrm>
            <a:off x="777240" y="205740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Plain-language status for each application and a personal checklist: checked, being checked, please upload, please upload again.</a:t>
            </a:r>
            <a:endParaRPr lang="en-US" sz="1400" dirty="0"/>
          </a:p>
        </p:txBody>
      </p:sp>
      <p:sp>
        <p:nvSpPr>
          <p:cNvPr id="6" name="card-176"/>
          <p:cNvSpPr/>
          <p:nvPr/>
        </p:nvSpPr>
        <p:spPr>
          <a:xfrm>
            <a:off x="617220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-head-177"/>
          <p:cNvSpPr txBox="1"/>
          <p:nvPr/>
        </p:nvSpPr>
        <p:spPr>
          <a:xfrm>
            <a:off x="6400800" y="160020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Direct uploads</a:t>
            </a:r>
            <a:endParaRPr lang="en-US" sz="1800" dirty="0"/>
          </a:p>
        </p:txBody>
      </p:sp>
      <p:sp>
        <p:nvSpPr>
          <p:cNvPr id="8" name="card-body-178"/>
          <p:cNvSpPr txBox="1"/>
          <p:nvPr/>
        </p:nvSpPr>
        <p:spPr>
          <a:xfrm>
            <a:off x="6400800" y="205740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Students upload missing documents from their phone; staff are notified to review them.</a:t>
            </a:r>
            <a:endParaRPr lang="en-US" sz="1400" dirty="0"/>
          </a:p>
        </p:txBody>
      </p:sp>
      <p:sp>
        <p:nvSpPr>
          <p:cNvPr id="9" name="card-179"/>
          <p:cNvSpPr/>
          <p:nvPr/>
        </p:nvSpPr>
        <p:spPr>
          <a:xfrm>
            <a:off x="548640" y="374904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-head-180"/>
          <p:cNvSpPr txBox="1"/>
          <p:nvPr/>
        </p:nvSpPr>
        <p:spPr>
          <a:xfrm>
            <a:off x="777240" y="39319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Risk acknowledgment</a:t>
            </a:r>
            <a:endParaRPr lang="en-US" sz="1800" dirty="0"/>
          </a:p>
        </p:txBody>
      </p:sp>
      <p:sp>
        <p:nvSpPr>
          <p:cNvPr id="11" name="card-body-181"/>
          <p:cNvSpPr txBox="1"/>
          <p:nvPr/>
        </p:nvSpPr>
        <p:spPr>
          <a:xfrm>
            <a:off x="777240" y="438912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When a manager proceeds with a risky case, the student reads the risks and signs with their passport name and a drawn signature.</a:t>
            </a:r>
            <a:endParaRPr lang="en-US" sz="1400" dirty="0"/>
          </a:p>
        </p:txBody>
      </p:sp>
      <p:sp>
        <p:nvSpPr>
          <p:cNvPr id="12" name="card-182"/>
          <p:cNvSpPr/>
          <p:nvPr/>
        </p:nvSpPr>
        <p:spPr>
          <a:xfrm>
            <a:off x="6172200" y="374904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-head-183"/>
          <p:cNvSpPr txBox="1"/>
          <p:nvPr/>
        </p:nvSpPr>
        <p:spPr>
          <a:xfrm>
            <a:off x="6400800" y="39319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Secure intake link</a:t>
            </a:r>
            <a:endParaRPr lang="en-US" sz="1800" dirty="0"/>
          </a:p>
        </p:txBody>
      </p:sp>
      <p:sp>
        <p:nvSpPr>
          <p:cNvPr id="14" name="card-body-184"/>
          <p:cNvSpPr txBox="1"/>
          <p:nvPr/>
        </p:nvSpPr>
        <p:spPr>
          <a:xfrm>
            <a:off x="6400800" y="438912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private 7-day link to fill in the whole profile without an account, with consent recorded.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owner sees on day one</a:t>
            </a:r>
            <a:endParaRPr lang="en-US" sz="3400" dirty="0"/>
          </a:p>
        </p:txBody>
      </p:sp>
      <p:sp>
        <p:nvSpPr>
          <p:cNvPr id="3" name="stat-185"/>
          <p:cNvSpPr/>
          <p:nvPr/>
        </p:nvSpPr>
        <p:spPr>
          <a:xfrm>
            <a:off x="54864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-n-186"/>
          <p:cNvSpPr txBox="1"/>
          <p:nvPr/>
        </p:nvSpPr>
        <p:spPr>
          <a:xfrm>
            <a:off x="777240" y="1783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PKR 1.4M</a:t>
            </a:r>
            <a:endParaRPr lang="en-US" sz="4800" dirty="0"/>
          </a:p>
        </p:txBody>
      </p:sp>
      <p:sp>
        <p:nvSpPr>
          <p:cNvPr id="5" name="stat-l-187"/>
          <p:cNvSpPr txBox="1"/>
          <p:nvPr/>
        </p:nvSpPr>
        <p:spPr>
          <a:xfrm>
            <a:off x="777240" y="3063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stopped at the gate in the demo data</a:t>
            </a:r>
            <a:endParaRPr lang="en-US" sz="1800" dirty="0"/>
          </a:p>
        </p:txBody>
      </p:sp>
      <p:sp>
        <p:nvSpPr>
          <p:cNvPr id="6" name="stat-188"/>
          <p:cNvSpPr/>
          <p:nvPr/>
        </p:nvSpPr>
        <p:spPr>
          <a:xfrm>
            <a:off x="429768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-n-189"/>
          <p:cNvSpPr txBox="1"/>
          <p:nvPr/>
        </p:nvSpPr>
        <p:spPr>
          <a:xfrm>
            <a:off x="4526280" y="1783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5 of 6</a:t>
            </a:r>
            <a:endParaRPr lang="en-US" sz="4800" dirty="0"/>
          </a:p>
        </p:txBody>
      </p:sp>
      <p:sp>
        <p:nvSpPr>
          <p:cNvPr id="8" name="stat-l-190"/>
          <p:cNvSpPr txBox="1"/>
          <p:nvPr/>
        </p:nvSpPr>
        <p:spPr>
          <a:xfrm>
            <a:off x="4526280" y="3063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demo cases flagged before any money moved</a:t>
            </a:r>
            <a:endParaRPr lang="en-US" sz="1800" dirty="0"/>
          </a:p>
        </p:txBody>
      </p:sp>
      <p:sp>
        <p:nvSpPr>
          <p:cNvPr id="9" name="stat-191"/>
          <p:cNvSpPr/>
          <p:nvPr/>
        </p:nvSpPr>
        <p:spPr>
          <a:xfrm>
            <a:off x="804672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-n-192"/>
          <p:cNvSpPr txBox="1"/>
          <p:nvPr/>
        </p:nvSpPr>
        <p:spPr>
          <a:xfrm>
            <a:off x="8275320" y="17830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0</a:t>
            </a:r>
            <a:endParaRPr lang="en-US" sz="4800" dirty="0"/>
          </a:p>
        </p:txBody>
      </p:sp>
      <p:sp>
        <p:nvSpPr>
          <p:cNvPr id="11" name="stat-l-193"/>
          <p:cNvSpPr txBox="1"/>
          <p:nvPr/>
        </p:nvSpPr>
        <p:spPr>
          <a:xfrm>
            <a:off x="8275320" y="30632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non-refundable payments possible on a RED case</a:t>
            </a:r>
            <a:endParaRPr lang="en-US" sz="1800" dirty="0"/>
          </a:p>
        </p:txBody>
      </p:sp>
      <p:sp>
        <p:nvSpPr>
          <p:cNvPr id="12" name="stat-cap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Plus: pipeline by stage, deadlines in the next 30 days, rules needing verification, and each officer's gate-block rate as a training signal.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Working with VisaGuard vs without it</a:t>
            </a:r>
            <a:endParaRPr lang="en-US" sz="3400" dirty="0"/>
          </a:p>
        </p:txBody>
      </p:sp>
      <p:sp>
        <p:nvSpPr>
          <p:cNvPr id="3" name="col-194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col-h-195"/>
          <p:cNvSpPr txBox="1"/>
          <p:nvPr/>
        </p:nvSpPr>
        <p:spPr>
          <a:xfrm>
            <a:off x="82296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Without</a:t>
            </a:r>
            <a:endParaRPr lang="en-US" sz="2000" dirty="0"/>
          </a:p>
        </p:txBody>
      </p:sp>
      <p:sp>
        <p:nvSpPr>
          <p:cNvPr id="5" name="col-r-196"/>
          <p:cNvSpPr txBox="1"/>
          <p:nvPr/>
        </p:nvSpPr>
        <p:spPr>
          <a:xfrm>
            <a:off x="822960" y="2103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Fee paid before eligibility is checked</a:t>
            </a:r>
            <a:endParaRPr lang="en-US" sz="1600" dirty="0"/>
          </a:p>
        </p:txBody>
      </p:sp>
      <p:sp>
        <p:nvSpPr>
          <p:cNvPr id="6" name="col-r-197"/>
          <p:cNvSpPr txBox="1"/>
          <p:nvPr/>
        </p:nvSpPr>
        <p:spPr>
          <a:xfrm>
            <a:off x="822960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Funds dip found by the embassy</a:t>
            </a:r>
            <a:endParaRPr lang="en-US" sz="1600" dirty="0"/>
          </a:p>
        </p:txBody>
      </p:sp>
      <p:sp>
        <p:nvSpPr>
          <p:cNvPr id="7" name="col-r-198"/>
          <p:cNvSpPr txBox="1"/>
          <p:nvPr/>
        </p:nvSpPr>
        <p:spPr>
          <a:xfrm>
            <a:off x="82296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Deadlines tracked in someone's head</a:t>
            </a:r>
            <a:endParaRPr lang="en-US" sz="1600" dirty="0"/>
          </a:p>
        </p:txBody>
      </p:sp>
      <p:sp>
        <p:nvSpPr>
          <p:cNvPr id="8" name="col-r-199"/>
          <p:cNvSpPr txBox="1"/>
          <p:nvPr/>
        </p:nvSpPr>
        <p:spPr>
          <a:xfrm>
            <a:off x="822960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Last year's rule amounts</a:t>
            </a:r>
            <a:endParaRPr lang="en-US" sz="1600" dirty="0"/>
          </a:p>
        </p:txBody>
      </p:sp>
      <p:sp>
        <p:nvSpPr>
          <p:cNvPr id="9" name="col-r-200"/>
          <p:cNvSpPr txBox="1"/>
          <p:nvPr/>
        </p:nvSpPr>
        <p:spPr>
          <a:xfrm>
            <a:off x="822960" y="4663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person approves their own payment</a:t>
            </a:r>
            <a:endParaRPr lang="en-US" sz="1600" dirty="0"/>
          </a:p>
        </p:txBody>
      </p:sp>
      <p:sp>
        <p:nvSpPr>
          <p:cNvPr id="10" name="col-r-201"/>
          <p:cNvSpPr txBox="1"/>
          <p:nvPr/>
        </p:nvSpPr>
        <p:spPr>
          <a:xfrm>
            <a:off x="822960" y="5303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record when a family complains</a:t>
            </a:r>
            <a:endParaRPr lang="en-US" sz="1600" dirty="0"/>
          </a:p>
        </p:txBody>
      </p:sp>
      <p:sp>
        <p:nvSpPr>
          <p:cNvPr id="11" name="col-202"/>
          <p:cNvSpPr/>
          <p:nvPr/>
        </p:nvSpPr>
        <p:spPr>
          <a:xfrm>
            <a:off x="6217920" y="137160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2" name="col-h-203"/>
          <p:cNvSpPr txBox="1"/>
          <p:nvPr/>
        </p:nvSpPr>
        <p:spPr>
          <a:xfrm>
            <a:off x="64922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With VisaGuard</a:t>
            </a:r>
            <a:endParaRPr lang="en-US" sz="2000" dirty="0"/>
          </a:p>
        </p:txBody>
      </p:sp>
      <p:sp>
        <p:nvSpPr>
          <p:cNvPr id="13" name="col-r-204"/>
          <p:cNvSpPr txBox="1"/>
          <p:nvPr/>
        </p:nvSpPr>
        <p:spPr>
          <a:xfrm>
            <a:off x="6492240" y="2103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Fee locked until the case is cleared</a:t>
            </a:r>
            <a:endParaRPr lang="en-US" sz="1600" dirty="0"/>
          </a:p>
        </p:txBody>
      </p:sp>
      <p:sp>
        <p:nvSpPr>
          <p:cNvPr id="14" name="col-r-205"/>
          <p:cNvSpPr txBox="1"/>
          <p:nvPr/>
        </p:nvSpPr>
        <p:spPr>
          <a:xfrm>
            <a:off x="6492240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Failing day and shortfall found before filing</a:t>
            </a:r>
            <a:endParaRPr lang="en-US" sz="1600" dirty="0"/>
          </a:p>
        </p:txBody>
      </p:sp>
      <p:sp>
        <p:nvSpPr>
          <p:cNvPr id="15" name="col-r-206"/>
          <p:cNvSpPr txBox="1"/>
          <p:nvPr/>
        </p:nvSpPr>
        <p:spPr>
          <a:xfrm>
            <a:off x="649224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Countdowns and overdue tasks for every case</a:t>
            </a:r>
            <a:endParaRPr lang="en-US" sz="1600" dirty="0"/>
          </a:p>
        </p:txBody>
      </p:sp>
      <p:sp>
        <p:nvSpPr>
          <p:cNvPr id="16" name="col-r-207"/>
          <p:cNvSpPr txBox="1"/>
          <p:nvPr/>
        </p:nvSpPr>
        <p:spPr>
          <a:xfrm>
            <a:off x="6492240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Verified rules that expire after 60 days</a:t>
            </a:r>
            <a:endParaRPr lang="en-US" sz="1600" dirty="0"/>
          </a:p>
        </p:txBody>
      </p:sp>
      <p:sp>
        <p:nvSpPr>
          <p:cNvPr id="17" name="col-r-208"/>
          <p:cNvSpPr txBox="1"/>
          <p:nvPr/>
        </p:nvSpPr>
        <p:spPr>
          <a:xfrm>
            <a:off x="6492240" y="4663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different people, every time</a:t>
            </a:r>
            <a:endParaRPr lang="en-US" sz="1600" dirty="0"/>
          </a:p>
        </p:txBody>
      </p:sp>
      <p:sp>
        <p:nvSpPr>
          <p:cNvPr id="18" name="col-r-209"/>
          <p:cNvSpPr txBox="1"/>
          <p:nvPr/>
        </p:nvSpPr>
        <p:spPr>
          <a:xfrm>
            <a:off x="6492240" y="5303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Signed acknowledgment and full audit trail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VisaGuard does not do</a:t>
            </a:r>
            <a:endParaRPr lang="en-US" sz="3400" dirty="0"/>
          </a:p>
        </p:txBody>
      </p:sp>
      <p:sp>
        <p:nvSpPr>
          <p:cNvPr id="3" name="badge-210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badge-t-211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lim-h-212"/>
          <p:cNvSpPr txBox="1"/>
          <p:nvPr/>
        </p:nvSpPr>
        <p:spPr>
          <a:xfrm>
            <a:off x="1280160" y="1463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guarantees</a:t>
            </a:r>
            <a:endParaRPr lang="en-US" sz="1800" dirty="0"/>
          </a:p>
        </p:txBody>
      </p:sp>
      <p:sp>
        <p:nvSpPr>
          <p:cNvPr id="6" name="lim-b-213"/>
          <p:cNvSpPr txBox="1"/>
          <p:nvPr/>
        </p:nvSpPr>
        <p:spPr>
          <a:xfrm>
            <a:off x="4663440" y="14630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GREEN means no known problem. Embassies and universities decide.</a:t>
            </a:r>
            <a:endParaRPr lang="en-US" sz="1600" dirty="0"/>
          </a:p>
        </p:txBody>
      </p:sp>
      <p:sp>
        <p:nvSpPr>
          <p:cNvPr id="7" name="badge-214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badge-t-215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lim-h-216"/>
          <p:cNvSpPr txBox="1"/>
          <p:nvPr/>
        </p:nvSpPr>
        <p:spPr>
          <a:xfrm>
            <a:off x="1280160" y="2560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Not legal advice</a:t>
            </a:r>
            <a:endParaRPr lang="en-US" sz="1800" dirty="0"/>
          </a:p>
        </p:txBody>
      </p:sp>
      <p:sp>
        <p:nvSpPr>
          <p:cNvPr id="10" name="lim-b-217"/>
          <p:cNvSpPr txBox="1"/>
          <p:nvPr/>
        </p:nvSpPr>
        <p:spPr>
          <a:xfrm>
            <a:off x="4663440" y="25603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supports your staff's judgement; it does not replace it.</a:t>
            </a:r>
            <a:endParaRPr lang="en-US" sz="1600" dirty="0"/>
          </a:p>
        </p:txBody>
      </p:sp>
      <p:sp>
        <p:nvSpPr>
          <p:cNvPr id="11" name="badge-218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badge-t-219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lim-h-220"/>
          <p:cNvSpPr txBox="1"/>
          <p:nvPr/>
        </p:nvSpPr>
        <p:spPr>
          <a:xfrm>
            <a:off x="1280160" y="3657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Rules need your managers</a:t>
            </a:r>
            <a:endParaRPr lang="en-US" sz="1800" dirty="0"/>
          </a:p>
        </p:txBody>
      </p:sp>
      <p:sp>
        <p:nvSpPr>
          <p:cNvPr id="14" name="lim-b-221"/>
          <p:cNvSpPr txBox="1"/>
          <p:nvPr/>
        </p:nvSpPr>
        <p:spPr>
          <a:xfrm>
            <a:off x="4663440" y="36576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Cases stay AMBER until each rule is checked against the official source.</a:t>
            </a:r>
            <a:endParaRPr lang="en-US" sz="1600" dirty="0"/>
          </a:p>
        </p:txBody>
      </p:sp>
      <p:sp>
        <p:nvSpPr>
          <p:cNvPr id="15" name="badge-222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badge-t-223"/>
          <p:cNvSpPr txBox="1"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lim-h-224"/>
          <p:cNvSpPr txBox="1"/>
          <p:nvPr/>
        </p:nvSpPr>
        <p:spPr>
          <a:xfrm>
            <a:off x="1280160" y="4754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Never fakes anything</a:t>
            </a:r>
            <a:endParaRPr lang="en-US" sz="1800" dirty="0"/>
          </a:p>
        </p:txBody>
      </p:sp>
      <p:sp>
        <p:nvSpPr>
          <p:cNvPr id="18" name="lim-b-225"/>
          <p:cNvSpPr txBox="1"/>
          <p:nvPr/>
        </p:nvSpPr>
        <p:spPr>
          <a:xfrm>
            <a:off x="4663440" y="47548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only detects problems and suggests genuine fixes. Messages are never sent on their own.</a:t>
            </a:r>
            <a:endParaRPr lang="en-US" sz="1600" dirty="0"/>
          </a:p>
        </p:txBody>
      </p:sp>
      <p:sp>
        <p:nvSpPr>
          <p:cNvPr id="19" name="lim-cap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 the demo, students, universities and documents are fictional, and document reading is simulated. The live version reads real documents with Claude 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Getting started, and a five-minute live demo</a:t>
            </a:r>
            <a:endParaRPr lang="en-US" sz="3400" dirty="0"/>
          </a:p>
        </p:txBody>
      </p:sp>
      <p:sp>
        <p:nvSpPr>
          <p:cNvPr id="3" name="gs-h"/>
          <p:cNvSpPr txBox="1"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Getting started</a:t>
            </a:r>
            <a:endParaRPr lang="en-US" sz="2000" dirty="0"/>
          </a:p>
        </p:txBody>
      </p:sp>
      <p:sp>
        <p:nvSpPr>
          <p:cNvPr id="4" name="badge-226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-227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gs-228"/>
          <p:cNvSpPr txBox="1"/>
          <p:nvPr/>
        </p:nvSpPr>
        <p:spPr>
          <a:xfrm>
            <a:off x="1234440" y="21488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Create staff accounts; keep two managers</a:t>
            </a:r>
            <a:endParaRPr lang="en-US" sz="1600" dirty="0"/>
          </a:p>
        </p:txBody>
      </p:sp>
      <p:sp>
        <p:nvSpPr>
          <p:cNvPr id="7" name="badge-229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-t-230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gs-231"/>
          <p:cNvSpPr txBox="1"/>
          <p:nvPr/>
        </p:nvSpPr>
        <p:spPr>
          <a:xfrm>
            <a:off x="1234440" y="2926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Verify every rule against the official source</a:t>
            </a:r>
            <a:endParaRPr lang="en-US" sz="1600" dirty="0"/>
          </a:p>
        </p:txBody>
      </p:sp>
      <p:sp>
        <p:nvSpPr>
          <p:cNvPr id="10" name="badge-232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-t-233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gs-234"/>
          <p:cNvSpPr txBox="1"/>
          <p:nvPr/>
        </p:nvSpPr>
        <p:spPr>
          <a:xfrm>
            <a:off x="1234440" y="37033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 your real programmes, fees and deadlines</a:t>
            </a:r>
            <a:endParaRPr lang="en-US" sz="1600" dirty="0"/>
          </a:p>
        </p:txBody>
      </p:sp>
      <p:sp>
        <p:nvSpPr>
          <p:cNvPr id="13" name="badge-235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adge-t-236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gs-237"/>
          <p:cNvSpPr txBox="1"/>
          <p:nvPr/>
        </p:nvSpPr>
        <p:spPr>
          <a:xfrm>
            <a:off x="1234440" y="4480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Bring current students in with the intake link</a:t>
            </a:r>
            <a:endParaRPr lang="en-US" sz="1600" dirty="0"/>
          </a:p>
        </p:txBody>
      </p:sp>
      <p:sp>
        <p:nvSpPr>
          <p:cNvPr id="16" name="badge-238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-t-239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gs-240"/>
          <p:cNvSpPr txBox="1"/>
          <p:nvPr/>
        </p:nvSpPr>
        <p:spPr>
          <a:xfrm>
            <a:off x="1234440" y="5257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every payment through Pre-flight</a:t>
            </a:r>
            <a:endParaRPr lang="en-US" sz="1600" dirty="0"/>
          </a:p>
        </p:txBody>
      </p:sp>
      <p:sp>
        <p:nvSpPr>
          <p:cNvPr id="19" name="demo-box"/>
          <p:cNvSpPr/>
          <p:nvPr/>
        </p:nvSpPr>
        <p:spPr>
          <a:xfrm>
            <a:off x="6309360" y="1371600"/>
            <a:ext cx="530352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emo-h"/>
          <p:cNvSpPr txBox="1"/>
          <p:nvPr/>
        </p:nvSpPr>
        <p:spPr>
          <a:xfrm>
            <a:off x="658368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Live demo</a:t>
            </a:r>
            <a:endParaRPr lang="en-US" sz="2000" dirty="0"/>
          </a:p>
        </p:txBody>
      </p:sp>
      <p:sp>
        <p:nvSpPr>
          <p:cNvPr id="21" name="demo-list"/>
          <p:cNvSpPr txBox="1"/>
          <p:nvPr/>
        </p:nvSpPr>
        <p:spPr>
          <a:xfrm>
            <a:off x="6583680" y="214884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Dashboard: money protected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Hamza: £3,000 deposit blocked, CGPA 2.45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Ayesha: funds fail on day 19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Zainab: verify a rule, AMBER turns GREEN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Omar: officer + manager pay, stage moves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Student portal: status without scores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Nothing irreversible happens until the gates pass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AI reads and explains. A person always decides.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aGuard">
  <a:themeElements>
    <a:clrScheme name="VisaGuard">
      <a:dk1>
        <a:srgbClr val="1F2937"/>
      </a:dk1>
      <a:lt1>
        <a:srgbClr val="FFFFFF"/>
      </a:lt1>
      <a:dk2>
        <a:srgbClr val="1B2A4A"/>
      </a:dk2>
      <a:lt2>
        <a:srgbClr val="F1F5F9"/>
      </a:lt2>
      <a:accent1>
        <a:srgbClr val="0F766E"/>
      </a:accent1>
      <a:accent2>
        <a:srgbClr val="15803D"/>
      </a:accent2>
      <a:accent3>
        <a:srgbClr val="B45309"/>
      </a:accent3>
      <a:accent4>
        <a:srgbClr val="B91C1C"/>
      </a:accent4>
      <a:accent5>
        <a:srgbClr val="5B6472"/>
      </a:accent5>
      <a:accent6>
        <a:srgbClr val="CADCFC"/>
      </a:accent6>
      <a:hlink>
        <a:srgbClr val="0F766E"/>
      </a:hlink>
      <a:folHlink>
        <a:srgbClr val="5B6472"/>
      </a:folHlink>
    </a:clrScheme>
    <a:fontScheme name="VisaGu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VisaGuard</dc:title>
  <dc:subject>VisaGuard for study-visa consultancies</dc:subject>
  <dc:creator>VisaGuard</dc:creator>
  <cp:lastModifiedBy>VisaGuard</cp:lastModifiedBy>
  <cp:revision>1</cp:revision>
  <dcterms:created xsi:type="dcterms:W3CDTF">2026-10-28T23:01:03Z</dcterms:created>
  <dcterms:modified xsi:type="dcterms:W3CDTF">2026-10-28T23:01:03Z</dcterms:modified>
</cp:coreProperties>
</file>